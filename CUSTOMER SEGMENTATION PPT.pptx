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E5E48-04CB-81AA-1DBD-2B6B225BC4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EAA1B5-1AB5-938F-9BCA-F85EC8977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09E77-DD5B-FC3B-191B-D5F334C52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7423-284F-4516-B053-77FBB04B69E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E6973-BE3F-EB83-DD8F-C66C5F7FD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2920F-67D0-6D06-C8D7-614D2118B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2719F-67FE-44D8-B265-7DC1870B4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03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20AD0-AFDB-A4BE-CD70-6E54DF65E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47C85-4650-CD48-66F0-9C5C0247F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59C81-FE9F-64E8-E71B-34C6FB14B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7423-284F-4516-B053-77FBB04B69E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69817-44B1-EE62-2DD3-46A5EB56F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DA955-8FA6-1F47-8209-FA02007DC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2719F-67FE-44D8-B265-7DC1870B4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410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62728-5978-FC55-D536-BE372CF37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2ECD3-AB28-A301-3BAF-C78907540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BE8D1-08E6-0304-F18A-EC6C3BFEA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7423-284F-4516-B053-77FBB04B69E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48362-473A-328D-1072-340A275C5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FEFA1-1E4E-16C4-F751-A42B1EC5D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2719F-67FE-44D8-B265-7DC1870B4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0ED71-6D5D-EF5C-9A74-F0CA087B7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24273-09C9-7BD6-8021-089452A8E3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205260-C66A-4ECE-2CF5-6EC2F5EF2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BD2A1F-7ABA-825D-41C5-2CDB0C88D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7423-284F-4516-B053-77FBB04B69E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356063-4F8B-A20F-2655-4D268786C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091E3E-9F4C-5FBF-9D7C-90A908CC1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2719F-67FE-44D8-B265-7DC1870B4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819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F05B7-A515-A54A-895F-5328B4F11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4AE9DF-196A-D6AD-8B47-197ADE14E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30A9E-4A46-1830-992B-D4CCD0DAC5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B6F960-2510-D7D6-3D04-0B2715EA28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9F539D-4EE7-61B3-5499-A9FF9B3E11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99D4EB-AC70-3FCF-D4B4-6655A04A1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7423-284F-4516-B053-77FBB04B69E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7F0ED1-E3D4-A81C-7365-7E864C17C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00CD55-DC69-383C-F285-6B16F538B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2719F-67FE-44D8-B265-7DC1870B4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44216-21E9-497B-E4E8-CE3C15CAF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BD304C-6E6B-BB2C-74A2-33F3BE98C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7423-284F-4516-B053-77FBB04B69E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17C68C-2AD4-DD13-718F-4D49D60F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04A25A-8764-7DAA-67DB-485312854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2719F-67FE-44D8-B265-7DC1870B4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955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8484E8-4564-0C33-7712-856F2BACC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7423-284F-4516-B053-77FBB04B69E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08A8CA-F6EF-44F6-A322-FC129F26D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63935-F06D-2B28-99F9-8EE656B7E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2719F-67FE-44D8-B265-7DC1870B4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219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A783F-B332-95DA-1F2D-8D5D35531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B90C8-67DF-C980-72B7-2BB81CC08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558951-ED5E-547A-51AE-6D25A4723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8029B-4704-4362-46BD-8854475CF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7423-284F-4516-B053-77FBB04B69E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611F9A-35D7-5FE1-1C54-67416B309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81ED0-CB3E-9D3F-9B44-DBBCB913E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2719F-67FE-44D8-B265-7DC1870B4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392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9FF0C-370B-0E64-9278-134C14393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E7BA61-903F-B723-37DA-2A20B23B0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F5C101-F706-0528-3BEF-05F39FAE3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45C00D-CF75-B631-5C9B-B4B8E08D7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7423-284F-4516-B053-77FBB04B69E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276EA2-234F-420B-3E25-890E56741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83761-AD19-BDDC-8BC2-BE68DA261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2719F-67FE-44D8-B265-7DC1870B4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2361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16D22-38FD-E9BF-A45F-31A748A5A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1A8C77-ECA1-EBE1-282B-A6500FC97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8BF2E-34A0-DCFE-BAB9-C559D1540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7423-284F-4516-B053-77FBB04B69E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E34E6-E7FE-5EF0-1CB2-246B8F459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3D650-3F6D-6260-08AA-432B20F1E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2719F-67FE-44D8-B265-7DC1870B4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765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1E3B35-CCE0-567F-E105-D95CD04FB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8D830B-522F-37A6-7445-CD21845F11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471D0-9163-BA6D-EFC2-E009C4F8D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7423-284F-4516-B053-77FBB04B69E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F2B63-304F-EFE4-2065-2B61EBD34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2659E-B65B-A646-DEAC-FAFCD3349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2719F-67FE-44D8-B265-7DC1870B4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308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AB7747-5AFF-A6D1-0A1C-36E51F52B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7FB09-7845-9141-4C56-EC66D39A5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FB884-81AC-ECD5-B29E-E71C62D740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767423-284F-4516-B053-77FBB04B69E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C9C8B-B733-2EE6-9EBF-296EE8AD0C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794BC-4614-8F67-BAB2-D207D0FCE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92719F-67FE-44D8-B265-7DC1870B4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990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A9DA7-53B2-4E99-DBDD-6DB994B03C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CUSTOMER SEGMENTATION PROJECT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3D5B86-474A-1C73-A7B1-D16BCB68BA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21676" y="3509963"/>
            <a:ext cx="3146323" cy="16557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Presented By:</a:t>
            </a:r>
          </a:p>
          <a:p>
            <a:r>
              <a:rPr lang="en-US" dirty="0"/>
              <a:t>Navya Sri </a:t>
            </a:r>
            <a:r>
              <a:rPr lang="en-US" dirty="0" err="1"/>
              <a:t>Gongu</a:t>
            </a:r>
            <a:endParaRPr lang="en-US" dirty="0"/>
          </a:p>
          <a:p>
            <a:r>
              <a:rPr lang="en-US" dirty="0"/>
              <a:t>n</a:t>
            </a:r>
            <a:r>
              <a:rPr lang="en-US"/>
              <a:t>avyasrigongu</a:t>
            </a:r>
            <a:r>
              <a:rPr lang="en-US" dirty="0"/>
              <a:t>@gmail.com</a:t>
            </a:r>
          </a:p>
        </p:txBody>
      </p:sp>
    </p:spTree>
    <p:extLst>
      <p:ext uri="{BB962C8B-B14F-4D97-AF65-F5344CB8AC3E}">
        <p14:creationId xmlns:p14="http://schemas.microsoft.com/office/powerpoint/2010/main" val="3599012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5F414-8386-644F-3A78-22E0F30EC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145"/>
            <a:ext cx="10515600" cy="804914"/>
          </a:xfrm>
        </p:spPr>
        <p:txBody>
          <a:bodyPr/>
          <a:lstStyle/>
          <a:p>
            <a:r>
              <a:rPr lang="en-US" b="1" dirty="0"/>
              <a:t>PROJECT OVERVIEW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97E92-59B6-6B4D-D9A6-77FFE87D5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3059"/>
            <a:ext cx="10515600" cy="5183904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This project focuses on </a:t>
            </a:r>
            <a:r>
              <a:rPr lang="en-IN" dirty="0" err="1"/>
              <a:t>analyzing</a:t>
            </a:r>
            <a:r>
              <a:rPr lang="en-IN" dirty="0"/>
              <a:t> customer demographics and purchasing </a:t>
            </a:r>
            <a:r>
              <a:rPr lang="en-IN" dirty="0" err="1"/>
              <a:t>behavior</a:t>
            </a:r>
            <a:r>
              <a:rPr lang="en-IN" dirty="0"/>
              <a:t> to identify distinct customer groups. Using </a:t>
            </a:r>
            <a:r>
              <a:rPr lang="en-IN" b="1" dirty="0"/>
              <a:t>K-Means Clustering</a:t>
            </a:r>
            <a:r>
              <a:rPr lang="en-IN" dirty="0"/>
              <a:t>, customers are segmented based on factors such as age, income, purchase amount, and purchase frequency. The segmented data is then visualized through an interactive </a:t>
            </a:r>
            <a:r>
              <a:rPr lang="en-IN" b="1" dirty="0"/>
              <a:t>Power BI dashboard</a:t>
            </a:r>
            <a:r>
              <a:rPr lang="en-IN" dirty="0"/>
              <a:t> to uncover valuable business insights.</a:t>
            </a:r>
          </a:p>
          <a:p>
            <a:r>
              <a:rPr lang="en-IN" b="1" dirty="0"/>
              <a:t>Project Objectives</a:t>
            </a:r>
          </a:p>
          <a:p>
            <a:r>
              <a:rPr lang="en-IN" dirty="0" err="1"/>
              <a:t>Analyze</a:t>
            </a:r>
            <a:r>
              <a:rPr lang="en-IN" dirty="0"/>
              <a:t> customer demographics and purchasing patterns. </a:t>
            </a:r>
          </a:p>
          <a:p>
            <a:r>
              <a:rPr lang="en-IN" dirty="0"/>
              <a:t>Segment customers into meaningful groups using K-Means Clustering. </a:t>
            </a:r>
          </a:p>
          <a:p>
            <a:r>
              <a:rPr lang="en-IN" dirty="0"/>
              <a:t>Identify high-value, regular, and budget customer segments. </a:t>
            </a:r>
          </a:p>
          <a:p>
            <a:r>
              <a:rPr lang="en-IN" dirty="0"/>
              <a:t>Visualize customer segments and key metrics using Power BI. </a:t>
            </a:r>
          </a:p>
          <a:p>
            <a:r>
              <a:rPr lang="en-IN" dirty="0"/>
              <a:t>Generate data-driven recommendations for targeted marketing and customer retention.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5884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171F-A9A0-FAD6-69C5-3A8F72B06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5417"/>
          </a:xfrm>
        </p:spPr>
        <p:txBody>
          <a:bodyPr/>
          <a:lstStyle/>
          <a:p>
            <a:r>
              <a:rPr lang="en-US" b="1" dirty="0"/>
              <a:t>PROBLEM STATEMENT: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DF2A5-DC17-6E6B-F6D4-8952CDF21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0542"/>
            <a:ext cx="10515600" cy="503642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Businesses often have a diverse customer base with varying demographics, purchasing </a:t>
            </a:r>
            <a:r>
              <a:rPr lang="en-IN" dirty="0" err="1"/>
              <a:t>behaviors</a:t>
            </a:r>
            <a:r>
              <a:rPr lang="en-IN" dirty="0"/>
              <a:t>, and spending patterns. Treating all customers the same can lead to ineffective marketing campaigns, lower customer satisfaction, and missed revenue opportunities.</a:t>
            </a:r>
          </a:p>
          <a:p>
            <a:pPr marL="0" indent="0">
              <a:buNone/>
            </a:pPr>
            <a:r>
              <a:rPr lang="en-IN" dirty="0"/>
              <a:t>The challenge is to identify meaningful customer groups based on their </a:t>
            </a:r>
            <a:r>
              <a:rPr lang="en-IN" dirty="0" err="1"/>
              <a:t>behavior</a:t>
            </a:r>
            <a:r>
              <a:rPr lang="en-IN" dirty="0"/>
              <a:t> and characteristics so that businesses can better understand customer needs, improve customer engagement, and develop targeted marketing strategies.</a:t>
            </a:r>
          </a:p>
          <a:p>
            <a:pPr marL="0" indent="0">
              <a:buNone/>
            </a:pPr>
            <a:r>
              <a:rPr lang="en-IN" dirty="0"/>
              <a:t>This project addresses the problem by applying </a:t>
            </a:r>
            <a:r>
              <a:rPr lang="en-IN" b="1" dirty="0"/>
              <a:t>K-Means Clustering</a:t>
            </a:r>
            <a:r>
              <a:rPr lang="en-IN" dirty="0"/>
              <a:t> to segment customers using factors such as age, income, purchase amount, and purchase frequency. The resulting customer segments help businesses make data-driven decisions, optimize marketing efforts, and enhance customer retention and profitability.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8138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E1086-F070-D186-596D-2DC30CE59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2062"/>
          </a:xfrm>
        </p:spPr>
        <p:txBody>
          <a:bodyPr/>
          <a:lstStyle/>
          <a:p>
            <a:r>
              <a:rPr lang="en-US" b="1" dirty="0"/>
              <a:t>DATASET DESCRIPTION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629CF-A465-D490-547F-1914C5802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0039"/>
            <a:ext cx="10515600" cy="5006924"/>
          </a:xfrm>
        </p:spPr>
        <p:txBody>
          <a:bodyPr/>
          <a:lstStyle/>
          <a:p>
            <a:r>
              <a:rPr lang="en-IN" dirty="0"/>
              <a:t>The dataset contains customer demographic and purchasing information used to perform customer segmentation. It helps identify different customer groups based on their spending </a:t>
            </a:r>
            <a:r>
              <a:rPr lang="en-IN" dirty="0" err="1"/>
              <a:t>behavior</a:t>
            </a:r>
            <a:r>
              <a:rPr lang="en-IN" dirty="0"/>
              <a:t> and purchase frequency.</a:t>
            </a:r>
          </a:p>
          <a:p>
            <a:r>
              <a:rPr lang="en-IN" b="1" dirty="0"/>
              <a:t>Dataset Summary</a:t>
            </a:r>
          </a:p>
          <a:p>
            <a:r>
              <a:rPr lang="en-IN" b="1" dirty="0"/>
              <a:t>Dataset Name:</a:t>
            </a:r>
            <a:r>
              <a:rPr lang="en-IN" dirty="0"/>
              <a:t> Customer Segmentation Dataset </a:t>
            </a:r>
          </a:p>
          <a:p>
            <a:r>
              <a:rPr lang="en-IN" b="1" dirty="0"/>
              <a:t>Total Records:</a:t>
            </a:r>
            <a:r>
              <a:rPr lang="en-IN" dirty="0"/>
              <a:t> 50 Customers </a:t>
            </a:r>
          </a:p>
          <a:p>
            <a:r>
              <a:rPr lang="en-IN" b="1" dirty="0"/>
              <a:t>Total Features:</a:t>
            </a:r>
            <a:r>
              <a:rPr lang="en-IN" dirty="0"/>
              <a:t> 6 Attributes </a:t>
            </a:r>
          </a:p>
          <a:p>
            <a:r>
              <a:rPr lang="en-IN" b="1" dirty="0"/>
              <a:t>Data Type:</a:t>
            </a:r>
            <a:r>
              <a:rPr lang="en-IN" dirty="0"/>
              <a:t> Structured CSV Dataset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9755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14968-5FA9-6EB9-9460-5A610067B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9396"/>
            <a:ext cx="10515600" cy="545920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Features Description</a:t>
            </a:r>
          </a:p>
          <a:p>
            <a:pPr marL="0" indent="0">
              <a:buNone/>
            </a:pPr>
            <a:endParaRPr lang="en-IN" b="1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BD219B0-9CA7-4D91-C034-F8067A5786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35602"/>
              </p:ext>
            </p:extLst>
          </p:nvPr>
        </p:nvGraphicFramePr>
        <p:xfrm>
          <a:off x="1176594" y="1516078"/>
          <a:ext cx="8400249" cy="3802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0727">
                  <a:extLst>
                    <a:ext uri="{9D8B030D-6E8A-4147-A177-3AD203B41FA5}">
                      <a16:colId xmlns:a16="http://schemas.microsoft.com/office/drawing/2014/main" val="1670567041"/>
                    </a:ext>
                  </a:extLst>
                </a:gridCol>
                <a:gridCol w="5889522">
                  <a:extLst>
                    <a:ext uri="{9D8B030D-6E8A-4147-A177-3AD203B41FA5}">
                      <a16:colId xmlns:a16="http://schemas.microsoft.com/office/drawing/2014/main" val="3100736749"/>
                    </a:ext>
                  </a:extLst>
                </a:gridCol>
              </a:tblGrid>
              <a:tr h="5994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                           </a:t>
                      </a:r>
                      <a:r>
                        <a:rPr lang="en-IN" sz="2000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                                          Description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66017"/>
                  </a:ext>
                </a:extLst>
              </a:tr>
              <a:tr h="509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                 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                                 </a:t>
                      </a:r>
                      <a:r>
                        <a:rPr lang="en-IN" dirty="0"/>
                        <a:t>Age of the customer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163086"/>
                  </a:ext>
                </a:extLst>
              </a:tr>
              <a:tr h="500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         </a:t>
                      </a:r>
                      <a:r>
                        <a:rPr lang="en-IN" dirty="0" err="1"/>
                        <a:t>CustomerID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Unique identifier for each 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5456038"/>
                  </a:ext>
                </a:extLst>
              </a:tr>
              <a:tr h="471949">
                <a:tc>
                  <a:txBody>
                    <a:bodyPr/>
                    <a:lstStyle/>
                    <a:p>
                      <a:r>
                        <a:rPr lang="en-US" dirty="0"/>
                        <a:t>              </a:t>
                      </a:r>
                      <a:r>
                        <a:rPr lang="en-IN" dirty="0"/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</a:t>
                      </a:r>
                      <a:r>
                        <a:rPr lang="en-IN" dirty="0"/>
                        <a:t>Gender of the customer (Male/Female)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216474"/>
                  </a:ext>
                </a:extLst>
              </a:tr>
              <a:tr h="522382">
                <a:tc>
                  <a:txBody>
                    <a:bodyPr/>
                    <a:lstStyle/>
                    <a:p>
                      <a:r>
                        <a:rPr lang="en-US" dirty="0"/>
                        <a:t>              </a:t>
                      </a:r>
                      <a:r>
                        <a:rPr lang="en-IN" dirty="0"/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</a:t>
                      </a:r>
                      <a:r>
                        <a:rPr lang="en-IN" dirty="0"/>
                        <a:t>Annual income of the 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58510"/>
                  </a:ext>
                </a:extLst>
              </a:tr>
              <a:tr h="599449">
                <a:tc>
                  <a:txBody>
                    <a:bodyPr/>
                    <a:lstStyle/>
                    <a:p>
                      <a:r>
                        <a:rPr lang="en-IN" dirty="0"/>
                        <a:t>      </a:t>
                      </a:r>
                      <a:r>
                        <a:rPr lang="en-IN" dirty="0" err="1"/>
                        <a:t>PurchaseAmount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</a:t>
                      </a:r>
                      <a:r>
                        <a:rPr lang="en-IN" dirty="0"/>
                        <a:t>Total amount spent by the 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010082"/>
                  </a:ext>
                </a:extLst>
              </a:tr>
              <a:tr h="599449">
                <a:tc>
                  <a:txBody>
                    <a:bodyPr/>
                    <a:lstStyle/>
                    <a:p>
                      <a:r>
                        <a:rPr lang="en-IN" dirty="0"/>
                        <a:t>    </a:t>
                      </a:r>
                      <a:r>
                        <a:rPr lang="en-IN" dirty="0" err="1"/>
                        <a:t>PurchaseFrequency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</a:t>
                      </a:r>
                      <a:r>
                        <a:rPr lang="en-IN" dirty="0"/>
                        <a:t>Number of purchases made by the 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890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507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BD74B-A53C-E867-B730-1F2551165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6581"/>
            <a:ext cx="10515600" cy="5390382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Key Characteristics</a:t>
            </a:r>
          </a:p>
          <a:p>
            <a:r>
              <a:rPr lang="en-IN" dirty="0"/>
              <a:t>Contains both demographic and </a:t>
            </a:r>
            <a:r>
              <a:rPr lang="en-IN" dirty="0" err="1"/>
              <a:t>behavioral</a:t>
            </a:r>
            <a:r>
              <a:rPr lang="en-IN" dirty="0"/>
              <a:t> data. </a:t>
            </a:r>
          </a:p>
          <a:p>
            <a:r>
              <a:rPr lang="en-IN" dirty="0"/>
              <a:t>Includes customers from different income groups. </a:t>
            </a:r>
          </a:p>
          <a:p>
            <a:r>
              <a:rPr lang="en-IN" dirty="0"/>
              <a:t>Captures spending habits and purchasing frequency. </a:t>
            </a:r>
          </a:p>
          <a:p>
            <a:r>
              <a:rPr lang="en-IN" dirty="0"/>
              <a:t>Suitable for clustering and customer segmentation analysis. </a:t>
            </a:r>
          </a:p>
          <a:p>
            <a:r>
              <a:rPr lang="en-IN" dirty="0"/>
              <a:t>Supports business decision-making through customer insights</a:t>
            </a:r>
          </a:p>
        </p:txBody>
      </p:sp>
    </p:spTree>
    <p:extLst>
      <p:ext uri="{BB962C8B-B14F-4D97-AF65-F5344CB8AC3E}">
        <p14:creationId xmlns:p14="http://schemas.microsoft.com/office/powerpoint/2010/main" val="3917958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779DB-8DF9-6FC9-6F59-C97275BBC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2733"/>
          </a:xfrm>
        </p:spPr>
        <p:txBody>
          <a:bodyPr/>
          <a:lstStyle/>
          <a:p>
            <a:r>
              <a:rPr lang="en-US" b="1" dirty="0"/>
              <a:t>DATA PREPROCESSING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20D37-1E53-DF15-8D96-3F4C3E6F3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1045"/>
            <a:ext cx="10515600" cy="50659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Data preprocessing is an essential step to prepare the dataset for customer segmentation. It ensures that the data is clean, consistent, and suitable for machine learning algorithms.</a:t>
            </a:r>
          </a:p>
          <a:p>
            <a:pPr marL="0" indent="0">
              <a:buNone/>
            </a:pPr>
            <a:r>
              <a:rPr lang="en-IN" b="1" dirty="0"/>
              <a:t>Steps Performed</a:t>
            </a:r>
          </a:p>
          <a:p>
            <a:pPr marL="0" indent="0">
              <a:buNone/>
            </a:pPr>
            <a:r>
              <a:rPr lang="en-IN" b="1" dirty="0"/>
              <a:t>1. Data Collection</a:t>
            </a:r>
          </a:p>
          <a:p>
            <a:r>
              <a:rPr lang="en-IN" dirty="0"/>
              <a:t>Imported the customer dataset from a CSV file. </a:t>
            </a:r>
          </a:p>
          <a:p>
            <a:r>
              <a:rPr lang="en-IN" dirty="0"/>
              <a:t>Loaded the data into a Pandas </a:t>
            </a:r>
            <a:r>
              <a:rPr lang="en-IN" dirty="0" err="1"/>
              <a:t>DataFrame</a:t>
            </a:r>
            <a:r>
              <a:rPr lang="en-IN" dirty="0"/>
              <a:t> for analysis. </a:t>
            </a:r>
          </a:p>
          <a:p>
            <a:pPr marL="0" indent="0">
              <a:buNone/>
            </a:pPr>
            <a:r>
              <a:rPr lang="en-IN" b="1" dirty="0"/>
              <a:t>2. Data Inspection</a:t>
            </a:r>
          </a:p>
          <a:p>
            <a:r>
              <a:rPr lang="en-IN" dirty="0"/>
              <a:t>Examined the dataset structure using head(), info(), and describe(). </a:t>
            </a:r>
          </a:p>
          <a:p>
            <a:r>
              <a:rPr lang="en-IN" dirty="0"/>
              <a:t>Verified data types and feature availability.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9428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DC41C-1951-2E9A-89CA-FF1300461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0102"/>
            <a:ext cx="10515600" cy="589935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b="1" dirty="0"/>
              <a:t>3. Missing Value Handling</a:t>
            </a:r>
          </a:p>
          <a:p>
            <a:r>
              <a:rPr lang="en-IN" dirty="0"/>
              <a:t>Checked for null or missing values. </a:t>
            </a:r>
          </a:p>
          <a:p>
            <a:r>
              <a:rPr lang="en-IN" dirty="0"/>
              <a:t>Filled missing numerical values using appropriate statistical methods if required. </a:t>
            </a:r>
          </a:p>
          <a:p>
            <a:pPr marL="0" indent="0">
              <a:buNone/>
            </a:pPr>
            <a:r>
              <a:rPr lang="en-IN" b="1" dirty="0"/>
              <a:t>4. Duplicate Removal</a:t>
            </a:r>
          </a:p>
          <a:p>
            <a:r>
              <a:rPr lang="en-IN" dirty="0"/>
              <a:t>Identified and removed duplicate customer records to improve data quality. </a:t>
            </a:r>
          </a:p>
          <a:p>
            <a:pPr marL="0" indent="0">
              <a:buNone/>
            </a:pPr>
            <a:r>
              <a:rPr lang="en-IN" b="1" dirty="0"/>
              <a:t>5. Feature Selection</a:t>
            </a:r>
          </a:p>
          <a:p>
            <a:r>
              <a:rPr lang="en-IN" dirty="0"/>
              <a:t>Selected relevant features for clustering:</a:t>
            </a:r>
          </a:p>
          <a:p>
            <a:r>
              <a:rPr lang="en-IN" dirty="0"/>
              <a:t>Age </a:t>
            </a:r>
          </a:p>
          <a:p>
            <a:r>
              <a:rPr lang="en-IN" dirty="0"/>
              <a:t>Income </a:t>
            </a:r>
          </a:p>
          <a:p>
            <a:r>
              <a:rPr lang="en-IN" dirty="0"/>
              <a:t>Purchase Amount </a:t>
            </a:r>
          </a:p>
          <a:p>
            <a:r>
              <a:rPr lang="en-IN" dirty="0"/>
              <a:t>Purchase Frequency </a:t>
            </a:r>
          </a:p>
          <a:p>
            <a:pPr marL="0" indent="0">
              <a:buNone/>
            </a:pPr>
            <a:r>
              <a:rPr lang="en-IN" dirty="0"/>
              <a:t>Excluded:</a:t>
            </a:r>
          </a:p>
          <a:p>
            <a:r>
              <a:rPr lang="en-IN" dirty="0" err="1"/>
              <a:t>CustomerID</a:t>
            </a:r>
            <a:r>
              <a:rPr lang="en-IN" dirty="0"/>
              <a:t> (Identifier) </a:t>
            </a:r>
          </a:p>
          <a:p>
            <a:r>
              <a:rPr lang="en-IN" dirty="0"/>
              <a:t>Gender (Not used for clustering in this project)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2979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477FD-633F-6F92-21FB-AFC002133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9768"/>
            <a:ext cx="10515600" cy="5577195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6. Data Standardization</a:t>
            </a:r>
          </a:p>
          <a:p>
            <a:r>
              <a:rPr lang="en-IN" dirty="0"/>
              <a:t>Applied </a:t>
            </a:r>
            <a:r>
              <a:rPr lang="en-IN" b="1" dirty="0" err="1"/>
              <a:t>StandardScaler</a:t>
            </a:r>
            <a:r>
              <a:rPr lang="en-IN" dirty="0"/>
              <a:t> to normalize numerical features. </a:t>
            </a:r>
          </a:p>
          <a:p>
            <a:r>
              <a:rPr lang="en-IN" dirty="0"/>
              <a:t>Ensured all variables contribute equally to clustering. </a:t>
            </a:r>
          </a:p>
          <a:p>
            <a:pPr marL="0" indent="0">
              <a:buNone/>
            </a:pPr>
            <a:r>
              <a:rPr lang="en-IN" b="1" dirty="0"/>
              <a:t>7. Data Preparation for Clustering</a:t>
            </a:r>
          </a:p>
          <a:p>
            <a:r>
              <a:rPr lang="en-IN" dirty="0"/>
              <a:t>Created a feature matrix containing selected attributes. </a:t>
            </a:r>
          </a:p>
          <a:p>
            <a:r>
              <a:rPr lang="en-IN" dirty="0"/>
              <a:t>Prepared the dataset for K-Means Clustering.</a:t>
            </a:r>
          </a:p>
          <a:p>
            <a:pPr marL="0" indent="0">
              <a:buNone/>
            </a:pPr>
            <a:r>
              <a:rPr lang="en-IN" b="1" dirty="0"/>
              <a:t>Tools Used</a:t>
            </a:r>
          </a:p>
          <a:p>
            <a:r>
              <a:rPr lang="en-IN" dirty="0"/>
              <a:t>Pandas </a:t>
            </a:r>
          </a:p>
          <a:p>
            <a:r>
              <a:rPr lang="en-IN" dirty="0"/>
              <a:t>NumPy </a:t>
            </a:r>
          </a:p>
          <a:p>
            <a:r>
              <a:rPr lang="en-IN" dirty="0"/>
              <a:t>Scikit-Learn (</a:t>
            </a:r>
            <a:r>
              <a:rPr lang="en-IN" dirty="0" err="1"/>
              <a:t>StandardScaler</a:t>
            </a: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1665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6F2AB-93E3-DBAE-8253-CDB98D7E8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5752"/>
          </a:xfrm>
        </p:spPr>
        <p:txBody>
          <a:bodyPr/>
          <a:lstStyle/>
          <a:p>
            <a:r>
              <a:rPr lang="en-US" b="1" dirty="0"/>
              <a:t>K-MEANS CLUSTERING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BA98F-E1CE-17C1-4096-347C06B97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7355"/>
            <a:ext cx="10515600" cy="484960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K-Means Clustering is an unsupervised machine learning algorithm used to group similar customers into distinct segments based on their characteristics and purchasing </a:t>
            </a:r>
            <a:r>
              <a:rPr lang="en-IN" dirty="0" err="1"/>
              <a:t>behavior</a:t>
            </a:r>
            <a:r>
              <a:rPr lang="en-IN" dirty="0"/>
              <a:t>. It helps businesses understand customer patterns and create targeted marketing strategies.</a:t>
            </a:r>
          </a:p>
          <a:p>
            <a:pPr marL="0" indent="0">
              <a:buNone/>
            </a:pPr>
            <a:r>
              <a:rPr lang="en-IN" b="1" dirty="0"/>
              <a:t>Why K-Means?</a:t>
            </a:r>
          </a:p>
          <a:p>
            <a:r>
              <a:rPr lang="en-IN" dirty="0"/>
              <a:t>Simple and efficient clustering technique. </a:t>
            </a:r>
          </a:p>
          <a:p>
            <a:r>
              <a:rPr lang="en-IN" dirty="0"/>
              <a:t>Groups customers with similar </a:t>
            </a:r>
            <a:r>
              <a:rPr lang="en-IN" dirty="0" err="1"/>
              <a:t>behavior</a:t>
            </a:r>
            <a:r>
              <a:rPr lang="en-IN" dirty="0"/>
              <a:t>. </a:t>
            </a:r>
          </a:p>
          <a:p>
            <a:r>
              <a:rPr lang="en-IN" dirty="0"/>
              <a:t>Helps identify high-value and low-value customer segments. </a:t>
            </a:r>
          </a:p>
          <a:p>
            <a:r>
              <a:rPr lang="en-IN" dirty="0"/>
              <a:t>Supports data-driven business decisions.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396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34A81-012B-6D57-C941-56CCA17D8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7923"/>
            <a:ext cx="10515600" cy="54690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Steps Involved</a:t>
            </a:r>
          </a:p>
          <a:p>
            <a:pPr marL="0" indent="0">
              <a:buNone/>
            </a:pPr>
            <a:r>
              <a:rPr lang="en-IN" b="1" dirty="0"/>
              <a:t>1. Feature Selection</a:t>
            </a:r>
          </a:p>
          <a:p>
            <a:r>
              <a:rPr lang="en-IN" dirty="0"/>
              <a:t>Selected important customer attributes:</a:t>
            </a:r>
          </a:p>
          <a:p>
            <a:r>
              <a:rPr lang="en-IN" dirty="0"/>
              <a:t>Age </a:t>
            </a:r>
          </a:p>
          <a:p>
            <a:r>
              <a:rPr lang="en-IN" dirty="0"/>
              <a:t>Income </a:t>
            </a:r>
          </a:p>
          <a:p>
            <a:r>
              <a:rPr lang="en-IN" dirty="0"/>
              <a:t>Purchase Amount </a:t>
            </a:r>
          </a:p>
          <a:p>
            <a:r>
              <a:rPr lang="en-IN" dirty="0"/>
              <a:t>Purchase Frequency </a:t>
            </a:r>
          </a:p>
          <a:p>
            <a:pPr marL="0" indent="0">
              <a:buNone/>
            </a:pPr>
            <a:r>
              <a:rPr lang="en-IN" b="1" dirty="0"/>
              <a:t>2. Data Standardization</a:t>
            </a:r>
          </a:p>
          <a:p>
            <a:r>
              <a:rPr lang="en-IN" dirty="0"/>
              <a:t>Applied </a:t>
            </a:r>
            <a:r>
              <a:rPr lang="en-IN" b="1" dirty="0" err="1"/>
              <a:t>StandardScaler</a:t>
            </a:r>
            <a:r>
              <a:rPr lang="en-IN" dirty="0"/>
              <a:t> to normalize the data and ensure equal contribution of all features.</a:t>
            </a:r>
          </a:p>
          <a:p>
            <a:pPr marL="0" indent="0">
              <a:buNone/>
            </a:pPr>
            <a:r>
              <a:rPr lang="en-IN" b="1" dirty="0"/>
              <a:t>3. Determine Optimal Clusters</a:t>
            </a:r>
          </a:p>
          <a:p>
            <a:r>
              <a:rPr lang="en-IN" dirty="0"/>
              <a:t>Used the </a:t>
            </a:r>
            <a:r>
              <a:rPr lang="en-IN" b="1" dirty="0"/>
              <a:t>Elbow Method</a:t>
            </a:r>
            <a:r>
              <a:rPr lang="en-IN" dirty="0"/>
              <a:t> to find the optimal number of clusters (K).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4909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E8107-8030-F003-85B6-0149A2ED7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6424"/>
            <a:ext cx="10515600" cy="5578065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4. Apply K-Means Algorithm</a:t>
            </a:r>
          </a:p>
          <a:p>
            <a:r>
              <a:rPr lang="en-IN" dirty="0"/>
              <a:t>The algorithm:</a:t>
            </a:r>
          </a:p>
          <a:p>
            <a:r>
              <a:rPr lang="en-IN" dirty="0"/>
              <a:t>Randomly initializes cluster centroids. </a:t>
            </a:r>
          </a:p>
          <a:p>
            <a:r>
              <a:rPr lang="en-IN" dirty="0"/>
              <a:t>Assigns customers to the nearest centroid. </a:t>
            </a:r>
          </a:p>
          <a:p>
            <a:r>
              <a:rPr lang="en-IN" dirty="0"/>
              <a:t>Recalculates centroids based on assigned customers. </a:t>
            </a:r>
          </a:p>
          <a:p>
            <a:r>
              <a:rPr lang="en-IN" dirty="0"/>
              <a:t>Repeats until clusters stabilize. </a:t>
            </a:r>
          </a:p>
          <a:p>
            <a:pPr marL="0" indent="0">
              <a:buNone/>
            </a:pPr>
            <a:r>
              <a:rPr lang="en-IN" b="1" dirty="0"/>
              <a:t>5. Generate Customer Segments</a:t>
            </a:r>
          </a:p>
          <a:p>
            <a:r>
              <a:rPr lang="en-IN" dirty="0"/>
              <a:t>Customers were grouped into </a:t>
            </a:r>
            <a:r>
              <a:rPr lang="en-IN" b="1" dirty="0"/>
              <a:t>4 distinct clusters</a:t>
            </a:r>
            <a:r>
              <a:rPr lang="en-IN" dirty="0"/>
              <a:t> based on their purchasing </a:t>
            </a:r>
            <a:r>
              <a:rPr lang="en-IN" dirty="0" err="1"/>
              <a:t>behavior</a:t>
            </a:r>
            <a:r>
              <a:rPr lang="en-IN" dirty="0"/>
              <a:t> and income levels.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827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20F6A-0758-6A73-1574-AB679F063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4746"/>
          </a:xfrm>
        </p:spPr>
        <p:txBody>
          <a:bodyPr/>
          <a:lstStyle/>
          <a:p>
            <a:r>
              <a:rPr lang="en-US" b="1" dirty="0"/>
              <a:t>CUSTOMER SEGMENTS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D803C-3D0D-4309-D2CB-E46A884DC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9872"/>
            <a:ext cx="10515600" cy="531300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After applying </a:t>
            </a:r>
            <a:r>
              <a:rPr lang="en-IN" b="1" dirty="0"/>
              <a:t>K-Means Clustering</a:t>
            </a:r>
            <a:r>
              <a:rPr lang="en-IN" dirty="0"/>
              <a:t>, customers were grouped into </a:t>
            </a:r>
            <a:r>
              <a:rPr lang="en-IN" b="1" dirty="0"/>
              <a:t>four distinct segments</a:t>
            </a:r>
            <a:r>
              <a:rPr lang="en-IN" dirty="0"/>
              <a:t> based on their income, spending habits, and purchase frequency. Each segment represents customers with similar characteristics and </a:t>
            </a:r>
            <a:r>
              <a:rPr lang="en-IN" dirty="0" err="1"/>
              <a:t>behaviors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b="1" dirty="0"/>
              <a:t>Cluster 0 – Budget Customers</a:t>
            </a:r>
          </a:p>
          <a:p>
            <a:pPr marL="0" indent="0">
              <a:buNone/>
            </a:pPr>
            <a:r>
              <a:rPr lang="en-IN" b="1" dirty="0"/>
              <a:t>Characteristics</a:t>
            </a:r>
          </a:p>
          <a:p>
            <a:r>
              <a:rPr lang="en-IN" dirty="0"/>
              <a:t>Low income levels </a:t>
            </a:r>
          </a:p>
          <a:p>
            <a:r>
              <a:rPr lang="en-IN" dirty="0"/>
              <a:t>Low purchase amounts </a:t>
            </a:r>
          </a:p>
          <a:p>
            <a:r>
              <a:rPr lang="en-IN" dirty="0"/>
              <a:t>Less frequent purchases </a:t>
            </a:r>
          </a:p>
          <a:p>
            <a:r>
              <a:rPr lang="en-IN" dirty="0"/>
              <a:t>Price-sensitive customers </a:t>
            </a:r>
          </a:p>
          <a:p>
            <a:pPr marL="0" indent="0">
              <a:buNone/>
            </a:pPr>
            <a:r>
              <a:rPr lang="en-IN" b="1" dirty="0"/>
              <a:t>Business Strategy</a:t>
            </a:r>
          </a:p>
          <a:p>
            <a:r>
              <a:rPr lang="en-IN" dirty="0"/>
              <a:t>Offer discounts and promotional deals </a:t>
            </a:r>
          </a:p>
          <a:p>
            <a:r>
              <a:rPr lang="en-IN" dirty="0"/>
              <a:t>Introduce budget-friendly products </a:t>
            </a:r>
          </a:p>
          <a:p>
            <a:r>
              <a:rPr lang="en-IN" dirty="0"/>
              <a:t>Use coupon-based marketing campaigns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2679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458BF-5386-E7FA-B6C0-1732DB1DE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6256"/>
            <a:ext cx="10515600" cy="5617395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Cluster 1 – Regular Customers</a:t>
            </a:r>
          </a:p>
          <a:p>
            <a:pPr marL="0" indent="0">
              <a:buNone/>
            </a:pPr>
            <a:r>
              <a:rPr lang="en-IN" b="1" dirty="0"/>
              <a:t>Characteristics</a:t>
            </a:r>
          </a:p>
          <a:p>
            <a:r>
              <a:rPr lang="en-IN" dirty="0"/>
              <a:t>Moderate income </a:t>
            </a:r>
          </a:p>
          <a:p>
            <a:r>
              <a:rPr lang="en-IN" dirty="0"/>
              <a:t>Consistent purchasing </a:t>
            </a:r>
            <a:r>
              <a:rPr lang="en-IN" dirty="0" err="1"/>
              <a:t>behavior</a:t>
            </a:r>
            <a:r>
              <a:rPr lang="en-IN" dirty="0"/>
              <a:t> </a:t>
            </a:r>
          </a:p>
          <a:p>
            <a:r>
              <a:rPr lang="en-IN" dirty="0"/>
              <a:t>Average spending patterns </a:t>
            </a:r>
          </a:p>
          <a:p>
            <a:r>
              <a:rPr lang="en-IN" dirty="0"/>
              <a:t>Stable customer base </a:t>
            </a:r>
          </a:p>
          <a:p>
            <a:pPr marL="0" indent="0">
              <a:buNone/>
            </a:pPr>
            <a:r>
              <a:rPr lang="en-IN" b="1" dirty="0"/>
              <a:t>Business Strategy</a:t>
            </a:r>
          </a:p>
          <a:p>
            <a:r>
              <a:rPr lang="en-IN" dirty="0"/>
              <a:t>Provide personalized recommendations </a:t>
            </a:r>
          </a:p>
          <a:p>
            <a:r>
              <a:rPr lang="en-IN" dirty="0"/>
              <a:t>Offer loyalty points and rewards </a:t>
            </a:r>
          </a:p>
          <a:p>
            <a:r>
              <a:rPr lang="en-IN" dirty="0"/>
              <a:t>Maintain customer engagement through regular promotions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9335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AC993-02B6-9B96-B53B-C16B58EC4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6748"/>
            <a:ext cx="10515600" cy="5400215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Cluster 2 – Premium Customers</a:t>
            </a:r>
          </a:p>
          <a:p>
            <a:pPr marL="0" indent="0">
              <a:buNone/>
            </a:pPr>
            <a:r>
              <a:rPr lang="en-IN" b="1" dirty="0"/>
              <a:t>Characteristics</a:t>
            </a:r>
          </a:p>
          <a:p>
            <a:r>
              <a:rPr lang="en-IN" dirty="0"/>
              <a:t>High income levels </a:t>
            </a:r>
          </a:p>
          <a:p>
            <a:r>
              <a:rPr lang="en-IN" dirty="0"/>
              <a:t>High purchase amounts </a:t>
            </a:r>
          </a:p>
          <a:p>
            <a:r>
              <a:rPr lang="en-IN" dirty="0"/>
              <a:t>Frequent purchases </a:t>
            </a:r>
          </a:p>
          <a:p>
            <a:r>
              <a:rPr lang="en-IN" dirty="0"/>
              <a:t>Strong purchasing power </a:t>
            </a:r>
          </a:p>
          <a:p>
            <a:pPr marL="0" indent="0">
              <a:buNone/>
            </a:pPr>
            <a:r>
              <a:rPr lang="en-IN" b="1" dirty="0"/>
              <a:t>Business Strategy</a:t>
            </a:r>
          </a:p>
          <a:p>
            <a:r>
              <a:rPr lang="en-IN" dirty="0"/>
              <a:t>Promote premium products and services </a:t>
            </a:r>
          </a:p>
          <a:p>
            <a:r>
              <a:rPr lang="en-IN" dirty="0"/>
              <a:t>Provide exclusive offers and memberships </a:t>
            </a:r>
          </a:p>
          <a:p>
            <a:r>
              <a:rPr lang="en-IN" dirty="0"/>
              <a:t>Focus on customer retention programs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15336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7D9C2-444F-105B-6844-9C75180E9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5250"/>
            <a:ext cx="10515600" cy="5509239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Cluster 3 – VIP Customers</a:t>
            </a:r>
          </a:p>
          <a:p>
            <a:pPr marL="0" indent="0">
              <a:buNone/>
            </a:pPr>
            <a:r>
              <a:rPr lang="en-IN" b="1" dirty="0"/>
              <a:t>Characteristics</a:t>
            </a:r>
          </a:p>
          <a:p>
            <a:r>
              <a:rPr lang="en-IN" dirty="0"/>
              <a:t>Very high income </a:t>
            </a:r>
          </a:p>
          <a:p>
            <a:r>
              <a:rPr lang="en-IN" dirty="0"/>
              <a:t>Highest spending levels </a:t>
            </a:r>
          </a:p>
          <a:p>
            <a:r>
              <a:rPr lang="en-IN" dirty="0"/>
              <a:t>Most frequent purchases </a:t>
            </a:r>
          </a:p>
          <a:p>
            <a:r>
              <a:rPr lang="en-IN" dirty="0"/>
              <a:t>Most valuable customer segment </a:t>
            </a:r>
          </a:p>
          <a:p>
            <a:pPr marL="0" indent="0">
              <a:buNone/>
            </a:pPr>
            <a:r>
              <a:rPr lang="en-IN" b="1" dirty="0"/>
              <a:t>Business Strategy</a:t>
            </a:r>
          </a:p>
          <a:p>
            <a:r>
              <a:rPr lang="en-IN" dirty="0"/>
              <a:t>Offer VIP memberships and priority services </a:t>
            </a:r>
          </a:p>
          <a:p>
            <a:r>
              <a:rPr lang="en-IN" dirty="0"/>
              <a:t>Provide personalized support </a:t>
            </a:r>
          </a:p>
          <a:p>
            <a:r>
              <a:rPr lang="en-IN" dirty="0"/>
              <a:t>Launch exclusive premium campaigns</a:t>
            </a:r>
          </a:p>
        </p:txBody>
      </p:sp>
    </p:spTree>
    <p:extLst>
      <p:ext uri="{BB962C8B-B14F-4D97-AF65-F5344CB8AC3E}">
        <p14:creationId xmlns:p14="http://schemas.microsoft.com/office/powerpoint/2010/main" val="21516974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0B326-9F69-999C-9BF0-E7CE6AB1C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4243"/>
          </a:xfrm>
        </p:spPr>
        <p:txBody>
          <a:bodyPr>
            <a:normAutofit/>
          </a:bodyPr>
          <a:lstStyle/>
          <a:p>
            <a:r>
              <a:rPr lang="en-US" b="1" dirty="0"/>
              <a:t>DASHBOARD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EE02FF-A4FB-BE6A-572A-D3AD1E2492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468" y="1209675"/>
            <a:ext cx="9285064" cy="496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627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206F2-DC79-A3E4-7880-EB3EFFC55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en-US" b="1" dirty="0"/>
              <a:t>KEY INSIGHTS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ED029-58D8-BE8F-6F05-BBDA874B9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4957763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Successfully segmented customers into four meaningful groups using K-Means Clustering. </a:t>
            </a:r>
          </a:p>
          <a:p>
            <a:r>
              <a:rPr lang="en-IN" dirty="0"/>
              <a:t>VIP Customers generated the highest revenue and purchase frequency. Premium Customers showed strong spending potential and customer value. </a:t>
            </a:r>
          </a:p>
          <a:p>
            <a:r>
              <a:rPr lang="en-IN" dirty="0"/>
              <a:t>Regular Customers provided stable and consistent sales contributions.</a:t>
            </a:r>
          </a:p>
          <a:p>
            <a:r>
              <a:rPr lang="en-IN" dirty="0"/>
              <a:t>Budget Customers were more price-sensitive and responsive to promotions.</a:t>
            </a:r>
          </a:p>
          <a:p>
            <a:r>
              <a:rPr lang="en-IN" dirty="0"/>
              <a:t>Income and spending </a:t>
            </a:r>
            <a:r>
              <a:rPr lang="en-IN" dirty="0" err="1"/>
              <a:t>behavior</a:t>
            </a:r>
            <a:r>
              <a:rPr lang="en-IN" dirty="0"/>
              <a:t> played a key role in customer segmentation. </a:t>
            </a:r>
          </a:p>
          <a:p>
            <a:r>
              <a:rPr lang="en-IN" dirty="0"/>
              <a:t>Customer segmentation enables targeted marketing and improved customer retention. </a:t>
            </a:r>
          </a:p>
          <a:p>
            <a:r>
              <a:rPr lang="en-IN" dirty="0"/>
              <a:t>Power BI visualizations helped uncover valuable customer insights and business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381334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FC414-1795-E339-BD77-2C48FCCA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8E552-E582-4FC7-2DD3-2D137F5F7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7355"/>
            <a:ext cx="10515600" cy="484960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This project successfully applied </a:t>
            </a:r>
            <a:r>
              <a:rPr lang="en-IN" b="1" dirty="0"/>
              <a:t>K-Means Clustering</a:t>
            </a:r>
            <a:r>
              <a:rPr lang="en-IN" dirty="0"/>
              <a:t> to segment customers based on their demographics and purchasing </a:t>
            </a:r>
            <a:r>
              <a:rPr lang="en-IN" dirty="0" err="1"/>
              <a:t>behavior</a:t>
            </a:r>
            <a:r>
              <a:rPr lang="en-IN" dirty="0"/>
              <a:t>. By </a:t>
            </a:r>
            <a:r>
              <a:rPr lang="en-IN" dirty="0" err="1"/>
              <a:t>analyzing</a:t>
            </a:r>
            <a:r>
              <a:rPr lang="en-IN" dirty="0"/>
              <a:t> factors such as age, income, purchase amount, and purchase frequency, customers were grouped into meaningful segments including Budget, Regular, Premium, and VIP Customers.</a:t>
            </a:r>
          </a:p>
          <a:p>
            <a:pPr marL="0" indent="0">
              <a:buNone/>
            </a:pPr>
            <a:r>
              <a:rPr lang="en-IN" dirty="0"/>
              <a:t>The segmentation process helped identify customer spending patterns, high-value customer groups, and potential business opportunities. An interactive </a:t>
            </a:r>
            <a:r>
              <a:rPr lang="en-IN" b="1" dirty="0"/>
              <a:t>Power BI dashboard</a:t>
            </a:r>
            <a:r>
              <a:rPr lang="en-IN" dirty="0"/>
              <a:t> was developed to visualize customer insights, monitor segment performance, and support data-driven decision-making.</a:t>
            </a:r>
          </a:p>
          <a:p>
            <a:pPr marL="0" indent="0">
              <a:buNone/>
            </a:pPr>
            <a:r>
              <a:rPr lang="en-IN" dirty="0"/>
              <a:t>Overall, the project demonstrates how customer analytics and machine learning can help businesses improve marketing effectiveness, enhance customer retention, and maximize revenue through targeted strategies.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8322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72788-E2B1-EF56-8056-2A4C7948B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2398"/>
          </a:xfrm>
        </p:spPr>
        <p:txBody>
          <a:bodyPr/>
          <a:lstStyle/>
          <a:p>
            <a:r>
              <a:rPr lang="en-US" b="1" dirty="0"/>
              <a:t>FUTURE SCOPE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AFD59-957E-E206-3002-685DF1202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5174"/>
            <a:ext cx="10515600" cy="4721789"/>
          </a:xfrm>
        </p:spPr>
        <p:txBody>
          <a:bodyPr/>
          <a:lstStyle/>
          <a:p>
            <a:r>
              <a:rPr lang="en-IN" dirty="0"/>
              <a:t>Use larger real-world datasets for deeper analysis. </a:t>
            </a:r>
          </a:p>
          <a:p>
            <a:r>
              <a:rPr lang="en-IN" dirty="0"/>
              <a:t>Implement predictive models for customer </a:t>
            </a:r>
            <a:r>
              <a:rPr lang="en-IN" dirty="0" err="1"/>
              <a:t>behavior</a:t>
            </a:r>
            <a:r>
              <a:rPr lang="en-IN" dirty="0"/>
              <a:t> forecasting. </a:t>
            </a:r>
          </a:p>
          <a:p>
            <a:r>
              <a:rPr lang="en-IN" dirty="0"/>
              <a:t>Develop personalized recommendation systems. </a:t>
            </a:r>
          </a:p>
          <a:p>
            <a:r>
              <a:rPr lang="en-IN" dirty="0"/>
              <a:t>Enable real-time customer segmentation and monitoring.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0731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F7B284E-F36C-35A7-74FC-B36B34CB4D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52" b="9832"/>
          <a:stretch>
            <a:fillRect/>
          </a:stretch>
        </p:blipFill>
        <p:spPr>
          <a:xfrm>
            <a:off x="855406" y="1012723"/>
            <a:ext cx="9910917" cy="3313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782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1172</Words>
  <Application>Microsoft Office PowerPoint</Application>
  <PresentationFormat>Widescreen</PresentationFormat>
  <Paragraphs>163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CUSTOMER SEGMENTATION PROJECT</vt:lpstr>
      <vt:lpstr>PROJECT OVERVIEW</vt:lpstr>
      <vt:lpstr>PROBLEM STATEMENT:</vt:lpstr>
      <vt:lpstr>DATASET DESCRIPTION</vt:lpstr>
      <vt:lpstr>PowerPoint Presentation</vt:lpstr>
      <vt:lpstr>PowerPoint Presentation</vt:lpstr>
      <vt:lpstr>DATA PREPROCESSING</vt:lpstr>
      <vt:lpstr>PowerPoint Presentation</vt:lpstr>
      <vt:lpstr>PowerPoint Presentation</vt:lpstr>
      <vt:lpstr>K-MEANS CLUSTERING</vt:lpstr>
      <vt:lpstr>PowerPoint Presentation</vt:lpstr>
      <vt:lpstr>PowerPoint Presentation</vt:lpstr>
      <vt:lpstr>CUSTOMER SEGMENTS</vt:lpstr>
      <vt:lpstr>PowerPoint Presentation</vt:lpstr>
      <vt:lpstr>PowerPoint Presentation</vt:lpstr>
      <vt:lpstr>PowerPoint Presentation</vt:lpstr>
      <vt:lpstr>DASHBOARD</vt:lpstr>
      <vt:lpstr>KEY INSIGHTS</vt:lpstr>
      <vt:lpstr>CONCLUSION</vt:lpstr>
      <vt:lpstr>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dhudukala thapaswini</dc:creator>
  <cp:lastModifiedBy>dhudukala thapaswini</cp:lastModifiedBy>
  <cp:revision>3</cp:revision>
  <dcterms:created xsi:type="dcterms:W3CDTF">2026-06-08T13:21:47Z</dcterms:created>
  <dcterms:modified xsi:type="dcterms:W3CDTF">2026-06-08T13:52:00Z</dcterms:modified>
</cp:coreProperties>
</file>